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18"/>
    <p:restoredTop sz="94658"/>
  </p:normalViewPr>
  <p:slideViewPr>
    <p:cSldViewPr snapToGrid="0">
      <p:cViewPr varScale="1">
        <p:scale>
          <a:sx n="116" d="100"/>
          <a:sy n="116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83798-4CB1-E92F-9B60-56255015E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36D3C-C7C0-5F6D-CB27-0206526BFB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51CCA-E119-1A3E-0FA4-C94DDFEF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BF5B-804A-F348-88E3-0396B506212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690C2-5BFB-932B-76FB-4ABD6E7A3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2DAC2-003A-E60D-1681-FC48368B9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C7-E358-A143-B998-114147EF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66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B1536-4DE5-74C8-8035-101ACCB26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2ED64-06EF-C926-3B58-5CBE3844C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F78E4-BBF6-2277-4F9A-040DA4A9B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BF5B-804A-F348-88E3-0396B506212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B4F29-952B-0C8C-1EAE-1C6E30945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9EA0C-53C0-2A6C-2310-D12DBF480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C7-E358-A143-B998-114147EF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560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BF3F4-75B5-86B3-063E-3156653A4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F9CBD-82A7-CDBE-4A2D-4E1686C6A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E033F-FA6F-34D2-5BF3-2E53CBCE2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BF5B-804A-F348-88E3-0396B506212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F37D0-76E1-24E8-1B68-A4F728C80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9BD96-9351-3E5C-3037-B4618B629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C7-E358-A143-B998-114147EF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20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EB8D8-A081-E8B0-C6AA-37F540CAA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2F49A-7949-5D37-4123-AD32497AC2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21EA69-5428-8924-CAFF-91D01CDF4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C21BD-2CE7-1511-8BA3-7C373CFB0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BF5B-804A-F348-88E3-0396B506212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17E3E-8974-8DB7-04C3-C5856D1BF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5FAE8-809A-C9E6-C293-6259B6EF4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C7-E358-A143-B998-114147EF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54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7D93E-44E2-51E6-8D0E-684D739F8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522F7-3261-F469-3D25-270505905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4B1F3-23D4-1FB3-AA10-C6FF915F8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4AAAEA-3BF5-B006-8007-38C4E1CF7C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71937C-7E16-EABC-1BB4-91B9C20EC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54474F-17CF-A261-1C99-2DB6F91A6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BF5B-804A-F348-88E3-0396B506212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AB9582-C8A2-BB33-F3A8-2E1CD720E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126097-49F3-15EB-507F-6F389C33C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C7-E358-A143-B998-114147EF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223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E33B4-3035-8F64-CF21-C46A3AE8F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28FE1F-C4D1-F995-FBF7-07BD74F7B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BF5B-804A-F348-88E3-0396B506212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99F6E1-AD05-1D83-A884-4DF5F9F10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186C6-AC21-76ED-DCC2-E4A461583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C7-E358-A143-B998-114147EF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691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E1879A-006A-BA69-9270-11E6E3C57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BF5B-804A-F348-88E3-0396B506212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33B647-5148-22EF-9020-A77F8F311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A6304-AEE3-DC43-9E3A-3411B49D7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C7-E358-A143-B998-114147EF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633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38A54-7155-53C5-113E-B13B50B77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BB744-FB38-7E68-B463-7F3F1B578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E106E-8AD5-8239-AC06-8B07F6B5A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05ADD-6AED-DABB-701E-D272A5634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BF5B-804A-F348-88E3-0396B506212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6AED1-3ECD-8A53-4281-054611C3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781BD-3136-04C4-E9DE-487819E61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C7-E358-A143-B998-114147EF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47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E6E1-2605-0F0F-1F39-F62626417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6884CD-06D3-0072-7727-6D60E98859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D93CE-49B8-7B37-ECDB-4FB45A388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E8E0E8-A100-24B0-E6AD-EA2AA2DD2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BF5B-804A-F348-88E3-0396B506212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B6FB6-CBDC-EFF3-DE4B-B5AF740C2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4B0C9-BDD2-1812-CB96-65B174838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C7-E358-A143-B998-114147EF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505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1B2ED-B28A-9937-4895-4945C5B5D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63A7B8-1C18-C1D8-343F-F90C3BB71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B3276-C4BB-1986-8EAD-9B6755C54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BF5B-804A-F348-88E3-0396B506212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B0341-13F1-1D14-8052-CCC1420DB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142B0-9AEA-D5BF-828E-82D5CFB74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C7-E358-A143-B998-114147EF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15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C3D04C-C097-85AB-3EEC-FC1878FD03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91ED40-D051-7C11-8B93-F61EE1653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7DB15-9D41-7FC3-309C-5714190CD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BF5B-804A-F348-88E3-0396B506212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6E4C7-0FAD-8CE8-9787-9688F6401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B8426-F49B-63DB-B267-A1BD0C58D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E4C7-E358-A143-B998-114147EF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232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0A3F4F-AAAA-B216-108F-4B77E09C3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F0939-1AEF-4FA3-59FB-DDA6AF142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07556-B9BE-5CF7-B162-DBB37FB7D4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A3BF5B-804A-F348-88E3-0396B5062129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27F20-EA7A-9491-1E1C-375A81B1A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E43AB-C6F7-EFE9-A61E-771388FFC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11E4C7-E358-A143-B998-114147EF8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6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4AFE1E4-191D-2604-CFB3-65D9C836512D}"/>
              </a:ext>
            </a:extLst>
          </p:cNvPr>
          <p:cNvSpPr/>
          <p:nvPr/>
        </p:nvSpPr>
        <p:spPr>
          <a:xfrm>
            <a:off x="4676724" y="2643905"/>
            <a:ext cx="1802854" cy="14845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Efficiency Gap Scores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863BFD9-3135-F331-8ABD-C3175DC2629B}"/>
              </a:ext>
            </a:extLst>
          </p:cNvPr>
          <p:cNvSpPr/>
          <p:nvPr/>
        </p:nvSpPr>
        <p:spPr>
          <a:xfrm>
            <a:off x="9947141" y="2801939"/>
            <a:ext cx="1705222" cy="12896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Race-Specific Infant Mortality Rates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7A8797F-5F52-0BF2-57FC-43B93F690D05}"/>
              </a:ext>
            </a:extLst>
          </p:cNvPr>
          <p:cNvSpPr/>
          <p:nvPr/>
        </p:nvSpPr>
        <p:spPr>
          <a:xfrm>
            <a:off x="6696148" y="4025235"/>
            <a:ext cx="2449548" cy="128965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Republican Share of the State Legislature Currently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EA8DE3-92DC-6CE7-42B4-8C6276926165}"/>
              </a:ext>
            </a:extLst>
          </p:cNvPr>
          <p:cNvSpPr/>
          <p:nvPr/>
        </p:nvSpPr>
        <p:spPr>
          <a:xfrm>
            <a:off x="307895" y="2805761"/>
            <a:ext cx="2831693" cy="147123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Republican Share of the State Legislature at the Time of the Last Redistricting 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12371E2-EF78-D2E9-359C-5B0294FB2ACA}"/>
              </a:ext>
            </a:extLst>
          </p:cNvPr>
          <p:cNvSpPr/>
          <p:nvPr/>
        </p:nvSpPr>
        <p:spPr>
          <a:xfrm>
            <a:off x="7093998" y="1404165"/>
            <a:ext cx="1802855" cy="148452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Median Income; Income Inequality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C191574-21F6-555A-81D2-C80BC981FAFF}"/>
              </a:ext>
            </a:extLst>
          </p:cNvPr>
          <p:cNvSpPr/>
          <p:nvPr/>
        </p:nvSpPr>
        <p:spPr>
          <a:xfrm>
            <a:off x="6385022" y="5665020"/>
            <a:ext cx="3031696" cy="7673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State-Specific Characteristics that are Constant Over Time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E7F0101-1980-582A-D354-ED5409943795}"/>
              </a:ext>
            </a:extLst>
          </p:cNvPr>
          <p:cNvSpPr/>
          <p:nvPr/>
        </p:nvSpPr>
        <p:spPr>
          <a:xfrm>
            <a:off x="6385022" y="420075"/>
            <a:ext cx="3031696" cy="7201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Time-Varying Characteristics that are Constant Across States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5D213C9-CAD4-EE00-4FA9-89486A556FF2}"/>
              </a:ext>
            </a:extLst>
          </p:cNvPr>
          <p:cNvCxnSpPr>
            <a:cxnSpLocks/>
            <a:stCxn id="11" idx="1"/>
            <a:endCxn id="4" idx="4"/>
          </p:cNvCxnSpPr>
          <p:nvPr/>
        </p:nvCxnSpPr>
        <p:spPr>
          <a:xfrm flipH="1" flipV="1">
            <a:off x="5578151" y="4128429"/>
            <a:ext cx="806871" cy="1920259"/>
          </a:xfrm>
          <a:prstGeom prst="straightConnector1">
            <a:avLst/>
          </a:prstGeom>
          <a:ln cap="flat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83EF49-C246-B682-FE2E-0FC6A56879E9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 flipV="1">
            <a:off x="3139588" y="3386167"/>
            <a:ext cx="1537136" cy="155210"/>
          </a:xfrm>
          <a:prstGeom prst="straightConnector1">
            <a:avLst/>
          </a:prstGeom>
          <a:ln cap="flat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0889371-B3E2-B232-378E-A7EBDCC0CB0B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6479578" y="3386167"/>
            <a:ext cx="3467563" cy="60600"/>
          </a:xfrm>
          <a:prstGeom prst="straightConnector1">
            <a:avLst/>
          </a:prstGeom>
          <a:ln cap="flat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60EEC7B-2325-DBAB-5A9F-49710DA5AE6E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6215556" y="3911025"/>
            <a:ext cx="839320" cy="303076"/>
          </a:xfrm>
          <a:prstGeom prst="straightConnector1">
            <a:avLst/>
          </a:prstGeom>
          <a:ln cap="flat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FBF68F7-309B-F6C0-5092-22891331FB1E}"/>
              </a:ext>
            </a:extLst>
          </p:cNvPr>
          <p:cNvCxnSpPr>
            <a:cxnSpLocks/>
            <a:stCxn id="6" idx="6"/>
            <a:endCxn id="5" idx="3"/>
          </p:cNvCxnSpPr>
          <p:nvPr/>
        </p:nvCxnSpPr>
        <p:spPr>
          <a:xfrm flipV="1">
            <a:off x="9145696" y="3902728"/>
            <a:ext cx="1051169" cy="767335"/>
          </a:xfrm>
          <a:prstGeom prst="straightConnector1">
            <a:avLst/>
          </a:prstGeom>
          <a:ln cap="flat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1A64300-1C8D-1F76-1C7B-49D051510FE2}"/>
              </a:ext>
            </a:extLst>
          </p:cNvPr>
          <p:cNvCxnSpPr>
            <a:cxnSpLocks/>
            <a:stCxn id="7" idx="7"/>
            <a:endCxn id="9" idx="2"/>
          </p:cNvCxnSpPr>
          <p:nvPr/>
        </p:nvCxnSpPr>
        <p:spPr>
          <a:xfrm flipV="1">
            <a:off x="2724896" y="2146427"/>
            <a:ext cx="4369102" cy="874791"/>
          </a:xfrm>
          <a:prstGeom prst="straightConnector1">
            <a:avLst/>
          </a:prstGeom>
          <a:ln cap="flat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0E214C1-133C-1CD1-7791-EE0E9028D0D7}"/>
              </a:ext>
            </a:extLst>
          </p:cNvPr>
          <p:cNvCxnSpPr>
            <a:cxnSpLocks/>
            <a:stCxn id="9" idx="6"/>
            <a:endCxn id="5" idx="1"/>
          </p:cNvCxnSpPr>
          <p:nvPr/>
        </p:nvCxnSpPr>
        <p:spPr>
          <a:xfrm>
            <a:off x="8896853" y="2146427"/>
            <a:ext cx="1300012" cy="844378"/>
          </a:xfrm>
          <a:prstGeom prst="straightConnector1">
            <a:avLst/>
          </a:prstGeom>
          <a:ln cap="flat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4E621D2-2FA6-2950-CC24-7E7C237C9F15}"/>
              </a:ext>
            </a:extLst>
          </p:cNvPr>
          <p:cNvCxnSpPr>
            <a:cxnSpLocks/>
            <a:stCxn id="7" idx="5"/>
            <a:endCxn id="6" idx="2"/>
          </p:cNvCxnSpPr>
          <p:nvPr/>
        </p:nvCxnSpPr>
        <p:spPr>
          <a:xfrm>
            <a:off x="2724896" y="4061535"/>
            <a:ext cx="3971252" cy="608528"/>
          </a:xfrm>
          <a:prstGeom prst="straightConnector1">
            <a:avLst/>
          </a:prstGeom>
          <a:ln cap="flat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85BE617-B6DB-4CCE-E7E4-0938D462015F}"/>
              </a:ext>
            </a:extLst>
          </p:cNvPr>
          <p:cNvCxnSpPr>
            <a:cxnSpLocks/>
            <a:stCxn id="11" idx="3"/>
            <a:endCxn id="5" idx="4"/>
          </p:cNvCxnSpPr>
          <p:nvPr/>
        </p:nvCxnSpPr>
        <p:spPr>
          <a:xfrm flipV="1">
            <a:off x="9416718" y="4091594"/>
            <a:ext cx="1383034" cy="1957094"/>
          </a:xfrm>
          <a:prstGeom prst="straightConnector1">
            <a:avLst/>
          </a:prstGeom>
          <a:ln cap="flat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179F448-A510-5762-DCA0-958EEF350B67}"/>
              </a:ext>
            </a:extLst>
          </p:cNvPr>
          <p:cNvCxnSpPr>
            <a:cxnSpLocks/>
            <a:stCxn id="12" idx="1"/>
            <a:endCxn id="4" idx="0"/>
          </p:cNvCxnSpPr>
          <p:nvPr/>
        </p:nvCxnSpPr>
        <p:spPr>
          <a:xfrm flipH="1">
            <a:off x="5578151" y="780148"/>
            <a:ext cx="806871" cy="1863757"/>
          </a:xfrm>
          <a:prstGeom prst="straightConnector1">
            <a:avLst/>
          </a:prstGeom>
          <a:ln cap="flat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052210B-FC83-398C-F724-01AAAC9F2AF7}"/>
              </a:ext>
            </a:extLst>
          </p:cNvPr>
          <p:cNvCxnSpPr>
            <a:cxnSpLocks/>
            <a:stCxn id="12" idx="3"/>
            <a:endCxn id="5" idx="0"/>
          </p:cNvCxnSpPr>
          <p:nvPr/>
        </p:nvCxnSpPr>
        <p:spPr>
          <a:xfrm>
            <a:off x="9416718" y="780148"/>
            <a:ext cx="1383034" cy="2021791"/>
          </a:xfrm>
          <a:prstGeom prst="straightConnector1">
            <a:avLst/>
          </a:prstGeom>
          <a:ln cap="flat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605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AF3C60E-F1A2-D99C-1DF4-1A2E9286D51C}"/>
              </a:ext>
            </a:extLst>
          </p:cNvPr>
          <p:cNvSpPr/>
          <p:nvPr/>
        </p:nvSpPr>
        <p:spPr>
          <a:xfrm>
            <a:off x="4802489" y="291462"/>
            <a:ext cx="2446609" cy="148452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Universe: All 50 States, 1995-2018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01A5BA-F457-A4AA-4FE9-C2A60C74FC8B}"/>
              </a:ext>
            </a:extLst>
          </p:cNvPr>
          <p:cNvSpPr/>
          <p:nvPr/>
        </p:nvSpPr>
        <p:spPr>
          <a:xfrm>
            <a:off x="4857573" y="1944476"/>
            <a:ext cx="2336440" cy="148452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34 States with a Full Panel of Infant Mortality Data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E16254D-560E-4934-6EA2-C32C86A470E5}"/>
              </a:ext>
            </a:extLst>
          </p:cNvPr>
          <p:cNvSpPr/>
          <p:nvPr/>
        </p:nvSpPr>
        <p:spPr>
          <a:xfrm>
            <a:off x="4927780" y="3597491"/>
            <a:ext cx="2336440" cy="148452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29 States with Efficiency Gap Data for at least 50% of Time Points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A907346-24DB-DDC1-6179-E9E2A4493F9B}"/>
              </a:ext>
            </a:extLst>
          </p:cNvPr>
          <p:cNvSpPr/>
          <p:nvPr/>
        </p:nvSpPr>
        <p:spPr>
          <a:xfrm>
            <a:off x="4927780" y="5250505"/>
            <a:ext cx="2336440" cy="148452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Final Sample</a:t>
            </a:r>
          </a:p>
        </p:txBody>
      </p: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D1B6BCEB-80DA-CCB0-1A3D-D984FE86B82F}"/>
              </a:ext>
            </a:extLst>
          </p:cNvPr>
          <p:cNvCxnSpPr>
            <a:cxnSpLocks/>
            <a:stCxn id="4" idx="6"/>
            <a:endCxn id="5" idx="6"/>
          </p:cNvCxnSpPr>
          <p:nvPr/>
        </p:nvCxnSpPr>
        <p:spPr>
          <a:xfrm flipH="1">
            <a:off x="7194013" y="1033724"/>
            <a:ext cx="55085" cy="1653014"/>
          </a:xfrm>
          <a:prstGeom prst="curvedConnector3">
            <a:avLst>
              <a:gd name="adj1" fmla="val -105498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8741B03F-8351-70D7-D818-AE757AF46629}"/>
              </a:ext>
            </a:extLst>
          </p:cNvPr>
          <p:cNvCxnSpPr>
            <a:cxnSpLocks/>
            <a:stCxn id="5" idx="6"/>
            <a:endCxn id="6" idx="6"/>
          </p:cNvCxnSpPr>
          <p:nvPr/>
        </p:nvCxnSpPr>
        <p:spPr>
          <a:xfrm>
            <a:off x="7194013" y="2686738"/>
            <a:ext cx="70207" cy="1653015"/>
          </a:xfrm>
          <a:prstGeom prst="curvedConnector3">
            <a:avLst>
              <a:gd name="adj1" fmla="val 89636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AB27A36C-81DC-9F4B-D4EA-50F5E574CFF2}"/>
              </a:ext>
            </a:extLst>
          </p:cNvPr>
          <p:cNvCxnSpPr>
            <a:cxnSpLocks/>
            <a:stCxn id="6" idx="6"/>
            <a:endCxn id="7" idx="6"/>
          </p:cNvCxnSpPr>
          <p:nvPr/>
        </p:nvCxnSpPr>
        <p:spPr>
          <a:xfrm>
            <a:off x="7264220" y="4339753"/>
            <a:ext cx="12700" cy="1653014"/>
          </a:xfrm>
          <a:prstGeom prst="curvedConnector3">
            <a:avLst>
              <a:gd name="adj1" fmla="val 448915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3A9DAAA-D6DA-403E-2979-264963523C79}"/>
              </a:ext>
            </a:extLst>
          </p:cNvPr>
          <p:cNvSpPr txBox="1"/>
          <p:nvPr/>
        </p:nvSpPr>
        <p:spPr>
          <a:xfrm rot="10800000" flipV="1">
            <a:off x="8051492" y="1537065"/>
            <a:ext cx="3778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Drop 16 states without a full panel of infant mortality 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3A6496-6FBA-82CB-3F3B-5FE9B4DDE428}"/>
              </a:ext>
            </a:extLst>
          </p:cNvPr>
          <p:cNvSpPr txBox="1"/>
          <p:nvPr/>
        </p:nvSpPr>
        <p:spPr>
          <a:xfrm rot="10800000" flipV="1">
            <a:off x="8051493" y="3190080"/>
            <a:ext cx="3778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Drop 5 states with efficiency gap data for less than 50% of time points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A5E8A3-B0A1-DB7D-8A3D-A1FFAB910A17}"/>
              </a:ext>
            </a:extLst>
          </p:cNvPr>
          <p:cNvSpPr txBox="1"/>
          <p:nvPr/>
        </p:nvSpPr>
        <p:spPr>
          <a:xfrm rot="10800000" flipV="1">
            <a:off x="8051493" y="4843094"/>
            <a:ext cx="3778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Drop 58 state-years without efficiency gap data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EF9DD6-4C8A-45E8-9241-8CC98FBABACA}"/>
              </a:ext>
            </a:extLst>
          </p:cNvPr>
          <p:cNvSpPr txBox="1"/>
          <p:nvPr/>
        </p:nvSpPr>
        <p:spPr>
          <a:xfrm>
            <a:off x="2483022" y="849058"/>
            <a:ext cx="2220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1200 state-years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B6A967-264A-7A9F-6975-36C4C89D82FF}"/>
              </a:ext>
            </a:extLst>
          </p:cNvPr>
          <p:cNvSpPr txBox="1"/>
          <p:nvPr/>
        </p:nvSpPr>
        <p:spPr>
          <a:xfrm>
            <a:off x="2483022" y="2502072"/>
            <a:ext cx="2059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816 state-years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208A2E-47C3-AF68-9CE1-0A5F18AD4D81}"/>
              </a:ext>
            </a:extLst>
          </p:cNvPr>
          <p:cNvSpPr txBox="1"/>
          <p:nvPr/>
        </p:nvSpPr>
        <p:spPr>
          <a:xfrm>
            <a:off x="2483022" y="4155086"/>
            <a:ext cx="2059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696 state-years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F2A660-2E06-4429-3E17-E669FDC0704E}"/>
              </a:ext>
            </a:extLst>
          </p:cNvPr>
          <p:cNvSpPr txBox="1"/>
          <p:nvPr/>
        </p:nvSpPr>
        <p:spPr>
          <a:xfrm>
            <a:off x="2483022" y="5808100"/>
            <a:ext cx="2059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= 638 state-years</a:t>
            </a:r>
          </a:p>
        </p:txBody>
      </p:sp>
    </p:spTree>
    <p:extLst>
      <p:ext uri="{BB962C8B-B14F-4D97-AF65-F5344CB8AC3E}">
        <p14:creationId xmlns:p14="http://schemas.microsoft.com/office/powerpoint/2010/main" val="3590348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</TotalTime>
  <Words>128</Words>
  <Application>Microsoft Macintosh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 Pittman</dc:creator>
  <cp:lastModifiedBy>AP Pittman</cp:lastModifiedBy>
  <cp:revision>2</cp:revision>
  <dcterms:created xsi:type="dcterms:W3CDTF">2026-02-18T21:33:22Z</dcterms:created>
  <dcterms:modified xsi:type="dcterms:W3CDTF">2026-02-25T19:59:32Z</dcterms:modified>
</cp:coreProperties>
</file>